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3"/>
  </p:notesMasterIdLst>
  <p:sldIdLst>
    <p:sldId id="258" r:id="rId2"/>
    <p:sldId id="260" r:id="rId3"/>
    <p:sldId id="262" r:id="rId4"/>
    <p:sldId id="264" r:id="rId5"/>
    <p:sldId id="270" r:id="rId6"/>
    <p:sldId id="265" r:id="rId7"/>
    <p:sldId id="266" r:id="rId8"/>
    <p:sldId id="267" r:id="rId9"/>
    <p:sldId id="271" r:id="rId10"/>
    <p:sldId id="268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B5F3227B-5EBF-474D-8B76-35EBAC00EE29}">
          <p14:sldIdLst>
            <p14:sldId id="258"/>
            <p14:sldId id="260"/>
            <p14:sldId id="262"/>
            <p14:sldId id="264"/>
            <p14:sldId id="270"/>
            <p14:sldId id="265"/>
            <p14:sldId id="266"/>
            <p14:sldId id="267"/>
            <p14:sldId id="271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09"/>
    <p:restoredTop sz="94668"/>
  </p:normalViewPr>
  <p:slideViewPr>
    <p:cSldViewPr snapToGrid="0">
      <p:cViewPr varScale="1">
        <p:scale>
          <a:sx n="74" d="100"/>
          <a:sy n="74" d="100"/>
        </p:scale>
        <p:origin x="192" y="1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1DEE05-F5A8-2845-A48B-9E96F5342F4A}" type="datetimeFigureOut">
              <a:rPr lang="en-US" smtClean="0"/>
              <a:t>3/5/26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FDDADF-380F-F84B-8D12-E58576C735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420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Optum Regarding AI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1. Optum uses predictive analytics for patient risk score. </a:t>
            </a:r>
          </a:p>
          <a:p>
            <a:pPr>
              <a:buFontTx/>
              <a:buChar char="-"/>
            </a:pP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Patient risk scores enables health systems to categorize each patient based on their health status.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2. Optum uses NLP to analyze medical records.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3. Develops population health models.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FDDADF-380F-F84B-8D12-E58576C7354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8060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CFE97-7DB4-0BA0-A599-EE1A67AD0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0E5EDE-DD74-59F8-DC0C-8BD886D7B4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C099E2-5FA0-B2A7-8A4E-79567F9563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DF0B3A-9C85-8C5F-821B-5A592990CA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FDDADF-380F-F84B-8D12-E58576C7354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06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what the </a:t>
            </a:r>
            <a:r>
              <a:rPr lang="en-US" dirty="0" err="1"/>
              <a:t>Algortithmic</a:t>
            </a:r>
            <a:r>
              <a:rPr lang="en-US" dirty="0"/>
              <a:t> Accountability Act is </a:t>
            </a:r>
          </a:p>
          <a:p>
            <a:r>
              <a:rPr lang="en-US" dirty="0"/>
              <a:t>Explain the philosophy of fairness.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FDDADF-380F-F84B-8D12-E58576C7354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4951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C54A3-B278-F7F9-E934-119904AA3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319871-C3D6-59F7-CA81-292B30DBC2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172F3A-EBF7-B9DC-236E-921FE38DD1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impact of the fix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0AC8B0-375E-754E-C39C-94EB9CD4DD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FDDADF-380F-F84B-8D12-E58576C7354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0471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984AC-A80C-B561-2770-1A35B4711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3A7142-B0DE-4DEA-B090-5BF199BC52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0C7679-C152-6342-AC17-08B39AC355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8F88C6-AA1C-CA01-22E0-DD80F2E99B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FDDADF-380F-F84B-8D12-E58576C7354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277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690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567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7597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791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3/5/26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038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3/5/26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188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3/5/26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56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423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715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02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6085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1596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ucknetweb.blogspot.com/2016/03/united-healthcare-puts-their-quants-to.html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hyperlink" Target="https://creativecommons.org/licenses/by-sa/3.0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57E10A-7C1F-DD21-2A32-536FB2D39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3D6A0FC-99FB-08E1-7694-F268C6DC86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213"/>
          <a:stretch>
            <a:fillRect/>
          </a:stretch>
        </p:blipFill>
        <p:spPr>
          <a:xfrm>
            <a:off x="-406" y="10"/>
            <a:ext cx="12191979" cy="685799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9E9D00D9-C4F5-471E-BE2C-126CB112A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06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2FD76F-30F9-1FBB-CFF3-CCA5179CB3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3230" y="5550413"/>
            <a:ext cx="4892948" cy="812923"/>
          </a:xfrm>
        </p:spPr>
        <p:txBody>
          <a:bodyPr anchor="t"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</a:rPr>
              <a:t>Tiara Scott</a:t>
            </a:r>
          </a:p>
          <a:p>
            <a:pPr>
              <a:lnSpc>
                <a:spcPct val="120000"/>
              </a:lnSpc>
            </a:pPr>
            <a:r>
              <a:rPr lang="en-US" sz="1700" dirty="0">
                <a:solidFill>
                  <a:srgbClr val="FFFFFF"/>
                </a:solidFill>
              </a:rPr>
              <a:t>Itai 2372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3209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B7C6751-5AD4-DE46-E029-808D915CB3F6}"/>
              </a:ext>
            </a:extLst>
          </p:cNvPr>
          <p:cNvSpPr txBox="1"/>
          <p:nvPr/>
        </p:nvSpPr>
        <p:spPr>
          <a:xfrm>
            <a:off x="5300892" y="6116087"/>
            <a:ext cx="58099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hlinkClick r:id="rId3" tooltip="https://ducknetweb.blogspot.com/2016/03/united-healthcare-puts-their-quants-to.html"/>
              </a:rPr>
              <a:t>This Photo</a:t>
            </a:r>
            <a:r>
              <a:rPr lang="en-US" sz="1200" dirty="0"/>
              <a:t> by Unknown Author is licensed under </a:t>
            </a:r>
            <a:r>
              <a:rPr lang="en-US" sz="1200" dirty="0">
                <a:hlinkClick r:id="rId4" tooltip="https://creativecommons.org/licenses/by-sa/3.0/"/>
              </a:rPr>
              <a:t>CC BY-SA</a:t>
            </a:r>
            <a:endParaRPr lang="en-US" sz="1200" dirty="0"/>
          </a:p>
        </p:txBody>
      </p:sp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779DDF18-87E9-A448-6DD5-B231381051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300888" y="2777304"/>
            <a:ext cx="5809945" cy="3427867"/>
          </a:xfrm>
          <a:prstGeom prst="rect">
            <a:avLst/>
          </a:prstGeom>
          <a:effectLst>
            <a:softEdge rad="114300"/>
          </a:effectLst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2CE4FF76-23BA-8129-5DA5-CCF71D92F8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039" y="88866"/>
            <a:ext cx="6297136" cy="2609511"/>
          </a:xfrm>
          <a:solidFill>
            <a:schemeClr val="tx1">
              <a:alpha val="62000"/>
            </a:schemeClr>
          </a:solidFill>
          <a:effectLst>
            <a:softEdge rad="38100"/>
          </a:effectLst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How Healthcare Algorithms Can Reinforce Inequality </a:t>
            </a:r>
            <a:br>
              <a:rPr lang="en-U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2400" dirty="0">
                <a:solidFill>
                  <a:schemeClr val="accent4">
                    <a:lumMod val="75000"/>
                  </a:schemeClr>
                </a:solidFill>
              </a:rPr>
              <a:t>How Healthcare Can Reinforce Inequality 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77960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E5C9C4-AF83-8343-1191-630421498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FC7B1079-27E5-17A6-40CD-8B37D8BA56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213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936366C-9DF9-3543-7DD1-121E64C080D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  <a:effectLst>
            <a:softEdge rad="190500"/>
          </a:effectLst>
        </p:spPr>
        <p:txBody>
          <a:bodyPr anchor="t">
            <a:normAutofit/>
          </a:bodyPr>
          <a:lstStyle/>
          <a:p>
            <a:pPr algn="ctr"/>
            <a:r>
              <a:rPr lang="en-US" sz="5400" dirty="0">
                <a:solidFill>
                  <a:schemeClr val="accent1">
                    <a:lumMod val="75000"/>
                  </a:schemeClr>
                </a:solidFill>
              </a:rPr>
              <a:t>Who is Optum?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4CC5BE-6D96-2411-6FB8-912851539A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79" y="2633472"/>
            <a:ext cx="5455921" cy="2852927"/>
          </a:xfrm>
          <a:solidFill>
            <a:schemeClr val="tx1"/>
          </a:solidFill>
          <a:effectLst>
            <a:softEdge rad="114300"/>
          </a:effectLst>
        </p:spPr>
        <p:txBody>
          <a:bodyPr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Optum is a healthcare technology and services company that uses data and analytics to improve healthcare systems. </a:t>
            </a:r>
          </a:p>
          <a:p>
            <a:pPr>
              <a:lnSpc>
                <a:spcPct val="120000"/>
              </a:lnSpc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Optum is owned by UnitedHealth Group, one of the largest healthcare companies in the U.S.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189434-1195-4A25-838A-942DE75A8A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5297" y="2633472"/>
            <a:ext cx="5245711" cy="2958806"/>
          </a:xfrm>
          <a:solidFill>
            <a:schemeClr val="tx1"/>
          </a:solidFill>
          <a:effectLst>
            <a:softEdge rad="114300"/>
          </a:effectLst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Optum plays a major role in healthcare by: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Serving millions of patients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Working with hospitals and insurers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Managing pharmacy services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Using AI and big data to analyze healthcare systems</a:t>
            </a:r>
          </a:p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48577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80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86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9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9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3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104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9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11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5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116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1" build="p" animBg="1"/>
      <p:bldP spid="3" grpId="2" build="p" animBg="1"/>
      <p:bldP spid="6" grpId="0" build="p" animBg="1"/>
      <p:bldP spid="6" grpId="1" build="p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1355AA-8F3A-3668-6B51-7447D07A0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68931184-A0F7-C19B-CED3-B194DE1297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213"/>
          <a:stretch>
            <a:fillRect/>
          </a:stretch>
        </p:blipFill>
        <p:spPr>
          <a:xfrm>
            <a:off x="0" y="10"/>
            <a:ext cx="12191979" cy="685799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3EA1FDD6-9A9D-CCE1-D1C5-CAF89D8CC7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7120" y="3428998"/>
            <a:ext cx="5205668" cy="2872649"/>
          </a:xfrm>
          <a:solidFill>
            <a:schemeClr val="tx1"/>
          </a:solidFill>
          <a:effectLst>
            <a:softEdge rad="114300"/>
          </a:effectLst>
        </p:spPr>
        <p:txBody>
          <a:bodyPr anchor="t">
            <a:normAutofit lnSpcReduction="10000"/>
          </a:bodyPr>
          <a:lstStyle/>
          <a:p>
            <a:pPr marL="0" indent="0">
              <a:buNone/>
            </a:pPr>
            <a:endParaRPr lang="en-US" sz="22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2600" b="1" dirty="0">
                <a:solidFill>
                  <a:schemeClr val="accent4">
                    <a:lumMod val="75000"/>
                  </a:schemeClr>
                </a:solidFill>
              </a:rPr>
              <a:t>Optum Insight 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Optum insight provides: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1. Healthcare cost modeling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2. Risk adjustment analytics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3. Population health data</a:t>
            </a:r>
          </a:p>
          <a:p>
            <a:pPr>
              <a:lnSpc>
                <a:spcPct val="120000"/>
              </a:lnSpc>
            </a:pPr>
            <a:endParaRPr lang="en-US" sz="17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080A953-B247-5FF1-3A8D-BB36CA034B05}"/>
              </a:ext>
            </a:extLst>
          </p:cNvPr>
          <p:cNvSpPr txBox="1">
            <a:spLocks/>
          </p:cNvSpPr>
          <p:nvPr/>
        </p:nvSpPr>
        <p:spPr>
          <a:xfrm>
            <a:off x="587120" y="636296"/>
            <a:ext cx="5205668" cy="2792702"/>
          </a:xfrm>
          <a:prstGeom prst="rect">
            <a:avLst/>
          </a:prstGeom>
          <a:solidFill>
            <a:schemeClr val="tx1"/>
          </a:solidFill>
          <a:effectLst>
            <a:softEdge rad="114300"/>
          </a:effectLst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18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</a:rPr>
              <a:t>Optum operates in 3 divisions</a:t>
            </a:r>
          </a:p>
          <a:p>
            <a:pPr marL="342900" indent="-342900">
              <a:buAutoNum type="arabicPeriod"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Optum Health</a:t>
            </a:r>
          </a:p>
          <a:p>
            <a:pPr marL="342900" indent="-342900">
              <a:buAutoNum type="arabicPeriod"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Optum Insight </a:t>
            </a:r>
          </a:p>
          <a:p>
            <a:pPr marL="342900" indent="-342900">
              <a:buAutoNum type="arabicPeriod"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Optum RX</a:t>
            </a:r>
          </a:p>
          <a:p>
            <a:pPr marL="0" indent="0">
              <a:buNone/>
            </a:pPr>
            <a:r>
              <a:rPr lang="en-US" sz="1700" dirty="0">
                <a:solidFill>
                  <a:schemeClr val="accent1">
                    <a:lumMod val="75000"/>
                  </a:schemeClr>
                </a:solidFill>
              </a:rPr>
              <a:t>Optum Insight is most relevant to this case.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2919490-7A59-C12C-FB2F-354A4C8356B8}"/>
              </a:ext>
            </a:extLst>
          </p:cNvPr>
          <p:cNvSpPr txBox="1">
            <a:spLocks/>
          </p:cNvSpPr>
          <p:nvPr/>
        </p:nvSpPr>
        <p:spPr>
          <a:xfrm>
            <a:off x="6379908" y="1521846"/>
            <a:ext cx="5205668" cy="4031931"/>
          </a:xfrm>
          <a:prstGeom prst="rect">
            <a:avLst/>
          </a:prstGeom>
          <a:solidFill>
            <a:schemeClr val="tx1"/>
          </a:solidFill>
          <a:effectLst>
            <a:softEdge rad="114300"/>
          </a:effectLst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2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600" b="1" dirty="0">
                <a:solidFill>
                  <a:schemeClr val="accent4">
                    <a:lumMod val="75000"/>
                  </a:schemeClr>
                </a:solidFill>
              </a:rPr>
              <a:t>Optum Insight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Because government programs like Medicare and Medicaid heavily rely on these analytics, companies like Optum can indirectly influence: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How risk scores are calculated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How reimbursement formulas are structured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</a:rPr>
              <a:t>3. how fraud detection  systems operate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endParaRPr lang="en-US" sz="1800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en-US" sz="17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8978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8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96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0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8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4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6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4A3F57-092C-40E9-1AC1-1A754C89A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F687B4C5-378A-62BC-D547-58D38F8FFF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213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ED7607C5-9D96-F38E-83D1-184C6161ACA6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45117" y="1939635"/>
            <a:ext cx="5341283" cy="3345363"/>
          </a:xfrm>
          <a:solidFill>
            <a:schemeClr val="tx1"/>
          </a:solidFill>
          <a:effectLst>
            <a:softEdge rad="114300"/>
          </a:effectLst>
        </p:spPr>
        <p:txBody>
          <a:bodyPr anchor="t">
            <a:normAutofit lnSpcReduction="10000"/>
          </a:bodyPr>
          <a:lstStyle/>
          <a:p>
            <a:pPr marL="0" indent="0" algn="ctr">
              <a:buNone/>
            </a:pPr>
            <a:endParaRPr lang="en-US" sz="2400" b="1" dirty="0">
              <a:solidFill>
                <a:schemeClr val="accent4">
                  <a:lumMod val="7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2800" b="1" dirty="0">
                <a:solidFill>
                  <a:schemeClr val="accent4">
                    <a:lumMod val="75000"/>
                  </a:schemeClr>
                </a:solidFill>
              </a:rPr>
              <a:t>What is a risk score ?</a:t>
            </a:r>
            <a:endParaRPr lang="en-US" sz="28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A risk score predicts how much medical care a patient ,might need in the future.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Risk scores estimate:</a:t>
            </a:r>
          </a:p>
          <a:p>
            <a:pPr marL="342900" indent="-342900">
              <a:buAutoNum type="arabicPeriod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Likelihood of hospitalization </a:t>
            </a:r>
          </a:p>
          <a:p>
            <a:pPr marL="342900" indent="-342900">
              <a:buAutoNum type="arabicPeriod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Future healthcare needs</a:t>
            </a:r>
          </a:p>
          <a:p>
            <a:pPr marL="342900" indent="-342900">
              <a:buAutoNum type="arabicPeriod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Expected treatment costs</a:t>
            </a:r>
            <a:endParaRPr lang="en-US" sz="17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1700" dirty="0">
              <a:solidFill>
                <a:schemeClr val="accent5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670941B6-5B14-F8AD-B37B-8CBC925E0935}"/>
              </a:ext>
            </a:extLst>
          </p:cNvPr>
          <p:cNvSpPr txBox="1">
            <a:spLocks/>
          </p:cNvSpPr>
          <p:nvPr/>
        </p:nvSpPr>
        <p:spPr>
          <a:xfrm>
            <a:off x="5716686" y="1939636"/>
            <a:ext cx="5958759" cy="3345363"/>
          </a:xfrm>
          <a:prstGeom prst="rect">
            <a:avLst/>
          </a:prstGeom>
          <a:solidFill>
            <a:schemeClr val="tx1"/>
          </a:solidFill>
          <a:effectLst>
            <a:softEdge rad="114300"/>
          </a:effectLst>
        </p:spPr>
        <p:txBody>
          <a:bodyPr vert="horz" lIns="91440" tIns="45720" rIns="91440" bIns="45720" rtlCol="0" anchor="ctr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100" b="1" dirty="0">
                <a:solidFill>
                  <a:schemeClr val="accent4">
                    <a:lumMod val="75000"/>
                  </a:schemeClr>
                </a:solidFill>
              </a:rPr>
              <a:t>Why Risk Scores can be Dangerous</a:t>
            </a:r>
            <a:endParaRPr lang="en-US" sz="31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700" dirty="0">
                <a:solidFill>
                  <a:schemeClr val="accent1">
                    <a:lumMod val="75000"/>
                  </a:schemeClr>
                </a:solidFill>
              </a:rPr>
              <a:t>Risk scores influence major decisions like: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700" dirty="0">
                <a:solidFill>
                  <a:schemeClr val="accent1">
                    <a:lumMod val="75000"/>
                  </a:schemeClr>
                </a:solidFill>
              </a:rPr>
              <a:t>Who gets extra care/monitoring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700" dirty="0">
                <a:solidFill>
                  <a:schemeClr val="accent1">
                    <a:lumMod val="75000"/>
                  </a:schemeClr>
                </a:solidFill>
              </a:rPr>
              <a:t>Who receives care management </a:t>
            </a:r>
          </a:p>
          <a:p>
            <a:pPr marL="342900" indent="-342900">
              <a:buFont typeface="Arial" panose="020B0604020202020204" pitchFamily="34" charset="0"/>
              <a:buAutoNum type="arabicPeriod"/>
            </a:pPr>
            <a:r>
              <a:rPr lang="en-US" sz="1700" dirty="0">
                <a:solidFill>
                  <a:schemeClr val="accent1">
                    <a:lumMod val="75000"/>
                  </a:schemeClr>
                </a:solidFill>
              </a:rPr>
              <a:t>Who gets preventative care</a:t>
            </a:r>
          </a:p>
          <a:p>
            <a:r>
              <a:rPr lang="en-US" sz="1700" dirty="0">
                <a:solidFill>
                  <a:schemeClr val="accent1">
                    <a:lumMod val="75000"/>
                  </a:schemeClr>
                </a:solidFill>
              </a:rPr>
              <a:t>If the model is biased, the risk score will be biased</a:t>
            </a:r>
          </a:p>
        </p:txBody>
      </p:sp>
    </p:spTree>
    <p:extLst>
      <p:ext uri="{BB962C8B-B14F-4D97-AF65-F5344CB8AC3E}">
        <p14:creationId xmlns:p14="http://schemas.microsoft.com/office/powerpoint/2010/main" val="38280453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7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7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38B4BA-47FD-1DB4-DBC1-ADD0256FE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07F7014B-99F6-B710-BBF6-F7C09D7437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213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EAF3BEB4-AAC7-2ECC-FA3B-6B0D275048DE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192505" y="654518"/>
            <a:ext cx="11925701" cy="5678905"/>
          </a:xfrm>
          <a:solidFill>
            <a:schemeClr val="tx1"/>
          </a:solidFill>
          <a:effectLst>
            <a:softEdge rad="114300"/>
          </a:effectLst>
        </p:spPr>
        <p:txBody>
          <a:bodyPr anchor="ctr">
            <a:normAutofit fontScale="32500" lnSpcReduction="20000"/>
          </a:bodyPr>
          <a:lstStyle/>
          <a:p>
            <a:pPr marL="0" indent="0" algn="ctr">
              <a:buNone/>
            </a:pPr>
            <a:r>
              <a:rPr lang="en-US" sz="12800" b="1" dirty="0">
                <a:solidFill>
                  <a:schemeClr val="accent5">
                    <a:lumMod val="75000"/>
                  </a:schemeClr>
                </a:solidFill>
              </a:rPr>
              <a:t>Example</a:t>
            </a:r>
          </a:p>
          <a:p>
            <a:pPr marL="0" indent="0">
              <a:buNone/>
            </a:pPr>
            <a:r>
              <a:rPr lang="en-US" sz="4000" dirty="0">
                <a:solidFill>
                  <a:schemeClr val="accent1">
                    <a:lumMod val="75000"/>
                  </a:schemeClr>
                </a:solidFill>
              </a:rPr>
              <a:t>Let’s say a model predicts:</a:t>
            </a:r>
          </a:p>
          <a:p>
            <a:pPr marL="0" indent="0">
              <a:buNone/>
            </a:pPr>
            <a:r>
              <a:rPr lang="en-US" sz="4000" dirty="0">
                <a:solidFill>
                  <a:schemeClr val="accent1">
                    <a:lumMod val="75000"/>
                  </a:schemeClr>
                </a:solidFill>
              </a:rPr>
              <a:t>P(Hospitalizations in 12 months)</a:t>
            </a:r>
          </a:p>
          <a:p>
            <a:pPr marL="0" indent="0">
              <a:buNone/>
            </a:pPr>
            <a:r>
              <a:rPr lang="en-US" sz="4000" dirty="0">
                <a:solidFill>
                  <a:schemeClr val="accent1">
                    <a:lumMod val="75000"/>
                  </a:schemeClr>
                </a:solidFill>
              </a:rPr>
              <a:t>If the model outputs:</a:t>
            </a:r>
          </a:p>
          <a:p>
            <a:pPr marL="0" indent="0">
              <a:buNone/>
            </a:pPr>
            <a:r>
              <a:rPr lang="en-US" sz="4000" dirty="0">
                <a:solidFill>
                  <a:schemeClr val="accent1">
                    <a:lumMod val="75000"/>
                  </a:schemeClr>
                </a:solidFill>
              </a:rPr>
              <a:t>0.82 </a:t>
            </a:r>
            <a:r>
              <a:rPr lang="en-US" sz="4000" dirty="0">
                <a:solidFill>
                  <a:schemeClr val="accent1">
                    <a:lumMod val="75000"/>
                  </a:schemeClr>
                </a:solidFill>
                <a:sym typeface="Wingdings" pitchFamily="2" charset="2"/>
              </a:rPr>
              <a:t> that’s an 82% predicted chance the patient will get hospitalized in 12 months</a:t>
            </a:r>
          </a:p>
          <a:p>
            <a:pPr marL="0" indent="0">
              <a:buNone/>
            </a:pPr>
            <a:endParaRPr lang="en-US" sz="40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0.10 = Low risk</a:t>
            </a:r>
          </a:p>
          <a:p>
            <a:pPr marL="0" indent="0">
              <a:buNone/>
            </a:pP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0.50 = Moderate Risk</a:t>
            </a:r>
          </a:p>
          <a:p>
            <a:pPr marL="0" indent="0">
              <a:buNone/>
            </a:pP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0.90 = High risk </a:t>
            </a:r>
          </a:p>
          <a:p>
            <a:pPr marL="0" indent="0">
              <a:buNone/>
            </a:pPr>
            <a:endParaRPr lang="en-US" sz="40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4000" dirty="0">
                <a:solidFill>
                  <a:schemeClr val="accent1">
                    <a:lumMod val="75000"/>
                  </a:schemeClr>
                </a:solidFill>
                <a:sym typeface="Wingdings" pitchFamily="2" charset="2"/>
              </a:rPr>
              <a:t>Hospitals may then::</a:t>
            </a:r>
          </a:p>
          <a:p>
            <a:pPr marL="0" indent="0">
              <a:buNone/>
            </a:pPr>
            <a:r>
              <a:rPr lang="en-US" sz="4000" dirty="0">
                <a:solidFill>
                  <a:schemeClr val="accent1">
                    <a:lumMod val="75000"/>
                  </a:schemeClr>
                </a:solidFill>
                <a:sym typeface="Wingdings" pitchFamily="2" charset="2"/>
              </a:rPr>
              <a:t>1. Flag that patient for extra monitoring</a:t>
            </a:r>
          </a:p>
          <a:p>
            <a:pPr marL="0" indent="0">
              <a:buNone/>
            </a:pPr>
            <a:r>
              <a:rPr lang="en-US" sz="4000" dirty="0">
                <a:solidFill>
                  <a:schemeClr val="accent1">
                    <a:lumMod val="75000"/>
                  </a:schemeClr>
                </a:solidFill>
                <a:sym typeface="Wingdings" pitchFamily="2" charset="2"/>
              </a:rPr>
              <a:t>2. Assign a case manager</a:t>
            </a:r>
          </a:p>
          <a:p>
            <a:pPr marL="0" indent="0">
              <a:buNone/>
            </a:pPr>
            <a:r>
              <a:rPr lang="en-US" sz="4000" dirty="0">
                <a:solidFill>
                  <a:schemeClr val="accent1">
                    <a:lumMod val="75000"/>
                  </a:schemeClr>
                </a:solidFill>
                <a:sym typeface="Wingdings" pitchFamily="2" charset="2"/>
              </a:rPr>
              <a:t>3. Offer preventative service</a:t>
            </a:r>
            <a:endParaRPr lang="en-US" sz="40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17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1700" dirty="0">
              <a:solidFill>
                <a:schemeClr val="accent5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1030" name="Picture 6" descr="PDF] Risk Analysis in Healthcare Organizations: Methodological Framework  and Critical Variables | Semantic Scholar">
            <a:extLst>
              <a:ext uri="{FF2B5EF4-FFF2-40B4-BE49-F238E27FC236}">
                <a16:creationId xmlns:a16="http://schemas.microsoft.com/office/drawing/2014/main" id="{13C5E957-F6C1-0E51-A1DA-4DA1C50619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7381" y="1704456"/>
            <a:ext cx="5579444" cy="415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84816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512167-C1B8-A9AE-29BD-FC50875AF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E401249E-4D0A-A9E9-E74B-BE3E701FB9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213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24CCA1B8-7E77-B98F-4157-F05ECB1F7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15508"/>
            <a:ext cx="10890929" cy="1097280"/>
          </a:xfrm>
          <a:solidFill>
            <a:schemeClr val="tx1"/>
          </a:solidFill>
          <a:effectLst>
            <a:softEdge rad="114300"/>
          </a:effectLst>
        </p:spPr>
        <p:txBody>
          <a:bodyPr anchor="ctr">
            <a:normAutofit/>
          </a:bodyPr>
          <a:lstStyle/>
          <a:p>
            <a:pPr algn="ctr"/>
            <a:r>
              <a:rPr lang="en-US" sz="3200" dirty="0">
                <a:solidFill>
                  <a:schemeClr val="accent4">
                    <a:lumMod val="75000"/>
                  </a:schemeClr>
                </a:solidFill>
              </a:rPr>
              <a:t>The Discovery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DC33B4-91DD-0642-AC30-177BD9F98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79" y="1328285"/>
            <a:ext cx="5356460" cy="5245769"/>
          </a:xfrm>
          <a:solidFill>
            <a:schemeClr val="tx1"/>
          </a:solidFill>
          <a:effectLst>
            <a:softEdge rad="114300"/>
          </a:effectLst>
        </p:spPr>
        <p:txBody>
          <a:bodyPr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In October of 2019, a study published in 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</a:rPr>
              <a:t>Science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revealed that a widely used commercial healthcare algorithm contained a significant bias.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The algorithm was used by insurers, hospitals, and health systems all over the United states to see which patients would benefit from programs for those who are need “high-risk care management”.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This algorithm was estimated to affect more than 200 million people a year.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On the surface, the algorithm appeared race-neutral; however, the bias emerged from what it did use: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healthcare cost as a proxy for health need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The bias was not cause by intentional programming, but by the proxy variable used in the model. A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proxy variable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is a variable used to stand in for another variable that you cannot directly measure.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Scientists used the algorithm used by hospitals and health systems to decide which patients needed extra medical help.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2B7B37-E0D3-1AF0-844A-611E20E0D8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9842" y="1328286"/>
            <a:ext cx="5356460" cy="5245770"/>
          </a:xfrm>
          <a:solidFill>
            <a:schemeClr val="tx1"/>
          </a:solidFill>
          <a:effectLst>
            <a:softEdge rad="114300"/>
          </a:effectLst>
        </p:spPr>
        <p:txBody>
          <a:bodyPr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The program was found to be unfair to black patients because it tended to think black patients were less sick than they really were – even though they were just as sick as white patients. </a:t>
            </a:r>
          </a:p>
          <a:p>
            <a:pPr marL="0" indent="0" algn="ctr">
              <a:buNone/>
            </a:pPr>
            <a:endParaRPr lang="en-US" sz="2900" dirty="0">
              <a:solidFill>
                <a:schemeClr val="accent4">
                  <a:lumMod val="75000"/>
                </a:schemeClr>
              </a:solidFill>
            </a:endParaRPr>
          </a:p>
          <a:p>
            <a:pPr marL="0" indent="0" algn="ctr">
              <a:buNone/>
            </a:pPr>
            <a:r>
              <a:rPr lang="en-US" sz="2900" dirty="0">
                <a:solidFill>
                  <a:schemeClr val="accent4">
                    <a:lumMod val="75000"/>
                  </a:schemeClr>
                </a:solidFill>
              </a:rPr>
              <a:t>Why did this happen?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The algorithm did not try to measure how someone was, instead it looked at how much money the health system spent on that person’s care and used healthcare costs as a proxy for sickness.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If a patient had many doctor visits, test, or treatments, the algorithm believed they were sicker.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Because black patients historically accessed care less often, received fewer referrals, and were less likely to have their symptoms taken seriously in comparisons to white patients ( for reasons such as structural barriers, unequal access, implicit bias, insurance disparities, provider bias, and historical mistrust) the program thought black patients were healthier than they were.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7579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2" grpId="0" build="p" animBg="1"/>
      <p:bldP spid="2" grpId="1" build="p" animBg="1"/>
      <p:bldP spid="4" grpId="0" build="p" animBg="1"/>
      <p:bldP spid="4" grpId="1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EA5D21-3C73-2F7B-AF4B-CDFD8DFD1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3698C101-CCFC-667E-6B60-EB1AAD8116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213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9B68AB81-855D-4F07-8BC4-48B3917EE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486077"/>
            <a:ext cx="10890929" cy="1097280"/>
          </a:xfrm>
          <a:solidFill>
            <a:schemeClr val="tx1"/>
          </a:solidFill>
          <a:effectLst>
            <a:softEdge rad="114300"/>
          </a:effectLst>
        </p:spPr>
        <p:txBody>
          <a:bodyPr anchor="ctr">
            <a:normAutofit/>
          </a:bodyPr>
          <a:lstStyle/>
          <a:p>
            <a:pPr algn="ctr"/>
            <a:r>
              <a:rPr lang="en-US" sz="3200" dirty="0">
                <a:solidFill>
                  <a:schemeClr val="accent4">
                    <a:lumMod val="75000"/>
                  </a:schemeClr>
                </a:solidFill>
              </a:rPr>
              <a:t>Where the Bias Came From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1ADC8F8-8774-2799-17A2-81E4444BCE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79" y="1778747"/>
            <a:ext cx="4836695" cy="2106971"/>
          </a:xfrm>
          <a:solidFill>
            <a:schemeClr val="tx1"/>
          </a:solidFill>
          <a:effectLst>
            <a:softEdge rad="114300"/>
          </a:effectLst>
        </p:spPr>
        <p:txBody>
          <a:bodyPr anchor="ctr">
            <a:no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4">
                    <a:lumMod val="75000"/>
                  </a:schemeClr>
                </a:solidFill>
              </a:rPr>
              <a:t>Proxies</a:t>
            </a:r>
            <a:endParaRPr lang="en-US" sz="1300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sz="1300" dirty="0">
                <a:solidFill>
                  <a:schemeClr val="accent1">
                    <a:lumMod val="75000"/>
                  </a:schemeClr>
                </a:solidFill>
              </a:rPr>
              <a:t>In data science and machine learning proxies are used when: </a:t>
            </a:r>
          </a:p>
          <a:p>
            <a:pPr marL="0" indent="0">
              <a:buNone/>
            </a:pPr>
            <a:r>
              <a:rPr lang="en-US" sz="1300" dirty="0">
                <a:solidFill>
                  <a:schemeClr val="accent1">
                    <a:lumMod val="75000"/>
                  </a:schemeClr>
                </a:solidFill>
              </a:rPr>
              <a:t>1. The real variable is hidden</a:t>
            </a:r>
          </a:p>
          <a:p>
            <a:pPr marL="0" indent="0">
              <a:buNone/>
            </a:pPr>
            <a:r>
              <a:rPr lang="en-US" sz="1300" dirty="0">
                <a:solidFill>
                  <a:schemeClr val="accent1">
                    <a:lumMod val="75000"/>
                  </a:schemeClr>
                </a:solidFill>
              </a:rPr>
              <a:t>2. The real variable is cannot be directly measured. </a:t>
            </a:r>
          </a:p>
          <a:p>
            <a:pPr marL="0" indent="0">
              <a:buNone/>
            </a:pPr>
            <a:r>
              <a:rPr lang="en-US" sz="1300" dirty="0">
                <a:solidFill>
                  <a:schemeClr val="accent1">
                    <a:lumMod val="75000"/>
                  </a:schemeClr>
                </a:solidFill>
              </a:rPr>
              <a:t>3. The real variable was not collected in the dataset.</a:t>
            </a:r>
            <a:endParaRPr lang="en-US" sz="13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285520-B937-FCE4-4D72-A413E8E2EE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91717" y="1664687"/>
            <a:ext cx="5290706" cy="2416422"/>
          </a:xfrm>
          <a:solidFill>
            <a:schemeClr val="tx1"/>
          </a:solidFill>
          <a:effectLst>
            <a:softEdge rad="114300"/>
          </a:effectLst>
        </p:spPr>
        <p:txBody>
          <a:bodyPr anchor="ctr">
            <a:normAutofit fontScale="32500" lnSpcReduction="20000"/>
          </a:bodyPr>
          <a:lstStyle/>
          <a:p>
            <a:pPr marL="0" indent="0" algn="ctr">
              <a:buNone/>
            </a:pPr>
            <a:r>
              <a:rPr lang="en-US" sz="5000" b="1" dirty="0">
                <a:solidFill>
                  <a:schemeClr val="accent4">
                    <a:lumMod val="75000"/>
                  </a:schemeClr>
                </a:solidFill>
              </a:rPr>
              <a:t>Example: Proxy Variable</a:t>
            </a:r>
          </a:p>
          <a:p>
            <a:pPr marL="0" indent="0">
              <a:buNone/>
            </a:pPr>
            <a:r>
              <a:rPr lang="en-US" sz="3300" dirty="0">
                <a:solidFill>
                  <a:schemeClr val="accent1">
                    <a:lumMod val="75000"/>
                  </a:schemeClr>
                </a:solidFill>
              </a:rPr>
              <a:t>If you want to know how rich someone is, but you cannot see their bank account you might look at:</a:t>
            </a:r>
          </a:p>
          <a:p>
            <a:pPr marL="457200" indent="-457200">
              <a:buAutoNum type="arabicPeriod"/>
            </a:pPr>
            <a:r>
              <a:rPr lang="en-US" sz="3300" dirty="0">
                <a:solidFill>
                  <a:schemeClr val="accent1">
                    <a:lumMod val="75000"/>
                  </a:schemeClr>
                </a:solidFill>
              </a:rPr>
              <a:t>The neighborhood they live in.</a:t>
            </a:r>
          </a:p>
          <a:p>
            <a:pPr marL="457200" indent="-457200">
              <a:buAutoNum type="arabicPeriod"/>
            </a:pPr>
            <a:r>
              <a:rPr lang="en-US" sz="3300" dirty="0">
                <a:solidFill>
                  <a:schemeClr val="accent1">
                    <a:lumMod val="75000"/>
                  </a:schemeClr>
                </a:solidFill>
              </a:rPr>
              <a:t>The car they drive. </a:t>
            </a:r>
          </a:p>
          <a:p>
            <a:pPr marL="457200" indent="-457200">
              <a:buAutoNum type="arabicPeriod"/>
            </a:pPr>
            <a:r>
              <a:rPr lang="en-US" sz="3300" dirty="0">
                <a:solidFill>
                  <a:schemeClr val="accent1">
                    <a:lumMod val="75000"/>
                  </a:schemeClr>
                </a:solidFill>
              </a:rPr>
              <a:t>The size of their house.</a:t>
            </a:r>
          </a:p>
          <a:p>
            <a:pPr marL="0" indent="0">
              <a:buNone/>
            </a:pPr>
            <a:r>
              <a:rPr lang="en-US" sz="3300" dirty="0">
                <a:solidFill>
                  <a:schemeClr val="accent1">
                    <a:lumMod val="75000"/>
                  </a:schemeClr>
                </a:solidFill>
              </a:rPr>
              <a:t>The things listed above are not money, but they give clues about money. Those clues are proxy variables</a:t>
            </a:r>
            <a:endParaRPr lang="en-US" sz="33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73CBCB2-17CF-5527-5326-27CAF342C850}"/>
              </a:ext>
            </a:extLst>
          </p:cNvPr>
          <p:cNvSpPr txBox="1">
            <a:spLocks/>
          </p:cNvSpPr>
          <p:nvPr/>
        </p:nvSpPr>
        <p:spPr>
          <a:xfrm>
            <a:off x="5691717" y="4110468"/>
            <a:ext cx="5290707" cy="2473212"/>
          </a:xfrm>
          <a:prstGeom prst="rect">
            <a:avLst/>
          </a:prstGeom>
          <a:solidFill>
            <a:schemeClr val="tx1"/>
          </a:solidFill>
          <a:effectLst>
            <a:softEdge rad="114300"/>
          </a:effectLst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Example: Machine Learning Bias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200" dirty="0">
                <a:solidFill>
                  <a:schemeClr val="accent1">
                    <a:lumMod val="75000"/>
                  </a:schemeClr>
                </a:solidFill>
              </a:rPr>
              <a:t>- </a:t>
            </a:r>
            <a:r>
              <a:rPr lang="en-US" sz="1300" dirty="0">
                <a:solidFill>
                  <a:schemeClr val="accent1">
                    <a:lumMod val="75000"/>
                  </a:schemeClr>
                </a:solidFill>
              </a:rPr>
              <a:t>Sometimes proxy variables cause hidden bias.</a:t>
            </a:r>
          </a:p>
          <a:p>
            <a:pPr>
              <a:buFontTx/>
              <a:buChar char="-"/>
            </a:pPr>
            <a:r>
              <a:rPr lang="en-US" sz="1300" dirty="0">
                <a:solidFill>
                  <a:schemeClr val="accent1">
                    <a:lumMod val="75000"/>
                  </a:schemeClr>
                </a:solidFill>
              </a:rPr>
              <a:t>A model is not allowed to use race, but it uses zip code. If the zip code strongly correlates with race, then the zip code becomes a proxy for race.</a:t>
            </a:r>
          </a:p>
          <a:p>
            <a:pPr marL="265176" lvl="1" indent="0">
              <a:buNone/>
            </a:pPr>
            <a:r>
              <a:rPr lang="en-US" sz="1400" dirty="0">
                <a:solidFill>
                  <a:schemeClr val="accent1">
                    <a:lumMod val="75000"/>
                  </a:schemeClr>
                </a:solidFill>
              </a:rPr>
              <a:t>&gt; even though the race wasn’t included, the model still indirectly used it. </a:t>
            </a: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018B4548-E82D-4F11-F9E7-F47331B91AF8}"/>
              </a:ext>
            </a:extLst>
          </p:cNvPr>
          <p:cNvSpPr txBox="1">
            <a:spLocks/>
          </p:cNvSpPr>
          <p:nvPr/>
        </p:nvSpPr>
        <p:spPr>
          <a:xfrm>
            <a:off x="640078" y="4081109"/>
            <a:ext cx="4836695" cy="2502571"/>
          </a:xfrm>
          <a:prstGeom prst="rect">
            <a:avLst/>
          </a:prstGeom>
          <a:solidFill>
            <a:schemeClr val="tx1"/>
          </a:solidFill>
          <a:effectLst>
            <a:softEdge rad="114300"/>
          </a:effectLst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Why proxies can be dangerous</a:t>
            </a:r>
          </a:p>
          <a:p>
            <a:pPr marL="0" indent="0">
              <a:buNone/>
            </a:pPr>
            <a:r>
              <a:rPr lang="en-US" sz="1300" dirty="0">
                <a:solidFill>
                  <a:schemeClr val="accent1">
                    <a:lumMod val="75000"/>
                  </a:schemeClr>
                </a:solidFill>
              </a:rPr>
              <a:t>They might not perfectly represent the real things.</a:t>
            </a:r>
          </a:p>
          <a:p>
            <a:pPr marL="0" indent="0">
              <a:buNone/>
            </a:pPr>
            <a:r>
              <a:rPr lang="en-US" sz="1300" dirty="0">
                <a:solidFill>
                  <a:schemeClr val="accent1">
                    <a:lumMod val="75000"/>
                  </a:schemeClr>
                </a:solidFill>
              </a:rPr>
              <a:t>2. They can introduce bias.</a:t>
            </a:r>
          </a:p>
          <a:p>
            <a:pPr marL="0" indent="0">
              <a:buNone/>
            </a:pPr>
            <a:r>
              <a:rPr lang="en-US" sz="1300" dirty="0">
                <a:solidFill>
                  <a:schemeClr val="accent1">
                    <a:lumMod val="75000"/>
                  </a:schemeClr>
                </a:solidFill>
              </a:rPr>
              <a:t>3. They can accidentally encode sensitive attributes (race, gender, age, religion, or health status).</a:t>
            </a:r>
          </a:p>
          <a:p>
            <a:pPr marL="0" indent="0">
              <a:buNone/>
            </a:pPr>
            <a:r>
              <a:rPr lang="en-US" sz="1300" dirty="0">
                <a:solidFill>
                  <a:schemeClr val="accent1">
                    <a:lumMod val="75000"/>
                  </a:schemeClr>
                </a:solidFill>
              </a:rPr>
              <a:t>4. They can lead to wrong conclusions.</a:t>
            </a:r>
          </a:p>
        </p:txBody>
      </p:sp>
    </p:spTree>
    <p:extLst>
      <p:ext uri="{BB962C8B-B14F-4D97-AF65-F5344CB8AC3E}">
        <p14:creationId xmlns:p14="http://schemas.microsoft.com/office/powerpoint/2010/main" val="13201035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3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8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8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8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6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2" grpId="0" build="p" animBg="1"/>
      <p:bldP spid="2" grpId="1" build="p" animBg="1"/>
      <p:bldP spid="4" grpId="0" build="p" animBg="1"/>
      <p:bldP spid="4" grpId="1" build="p" animBg="1"/>
      <p:bldP spid="6" grpId="0" animBg="1"/>
      <p:bldP spid="6" grpId="1" animBg="1"/>
      <p:bldP spid="7" grpId="0" animBg="1"/>
      <p:bldP spid="7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22BFB9-4538-B824-7F73-55CC71B97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76B5C389-5E15-AE7E-7F2D-FE5AC40E8C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213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193FDEC2-1B54-28ED-AC91-16FCF10F8CB0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tx1"/>
          </a:solidFill>
          <a:effectLst>
            <a:softEdge rad="114300"/>
          </a:effectLst>
        </p:spPr>
        <p:txBody>
          <a:bodyPr anchor="ctr">
            <a:normAutofit/>
          </a:bodyPr>
          <a:lstStyle/>
          <a:p>
            <a:pPr algn="ctr"/>
            <a:r>
              <a:rPr lang="en-US" sz="3200" dirty="0">
                <a:solidFill>
                  <a:schemeClr val="accent4">
                    <a:lumMod val="75000"/>
                  </a:schemeClr>
                </a:solidFill>
              </a:rPr>
              <a:t>The Data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258CB77-237E-7698-E993-B29A86DFD9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79" y="2633472"/>
            <a:ext cx="5232993" cy="3940582"/>
          </a:xfrm>
          <a:solidFill>
            <a:schemeClr val="tx1"/>
          </a:solidFill>
          <a:effectLst>
            <a:softEdge rad="114300"/>
          </a:effectLst>
        </p:spPr>
        <p:txBody>
          <a:bodyPr>
            <a:normAutofit fontScale="77500" lnSpcReduction="20000"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Black patients assigned the same risk score as white patients, on average, had more chronic illnesses 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These illnesses included diabetes, dementia, renal failure, and hypertension. </a:t>
            </a:r>
          </a:p>
          <a:p>
            <a:pPr lvl="1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For black patients to be referred to high-risk management programs at the same rate as white patients, black patients had to be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significantly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sicker at the point of enrollment.</a:t>
            </a:r>
          </a:p>
          <a:p>
            <a:pPr lvl="1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Researchers discovered that the biased reduced the proportion of black patients receiving extra care by half. 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Correcting the algorithm increased black patient enrollment in care management programs from 17.7% to 46.5%. </a:t>
            </a:r>
          </a:p>
          <a:p>
            <a:pPr marL="265176" lvl="1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* Across the entire population studied, roughly 56,000 additional black patients per year would have qualified for extra care under a correct model.  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DFB441-E478-1A2B-FF45-53F74C4F55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1"/>
            <a:ext cx="5212080" cy="3940583"/>
          </a:xfrm>
          <a:solidFill>
            <a:schemeClr val="tx1"/>
          </a:solidFill>
          <a:effectLst>
            <a:softEdge rad="114300"/>
          </a:effectLst>
        </p:spPr>
        <p:txBody>
          <a:bodyPr>
            <a:normAutofit fontScale="77500" lnSpcReduction="20000"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For AI development, the case is an example of how historical data encodes historical injustice. 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Training on real-world data does not produce objective models, it produces models that reflect and amplify the inequities that are present in data .</a:t>
            </a:r>
          </a:p>
          <a:p>
            <a:pPr>
              <a:buFontTx/>
              <a:buChar char="-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In other words, fairness must be designed. It does not emerge automatically. 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This case accelerated conversations around algorithmic accountability in healthcare. 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- The proposed Algorithmic Accountability Act (explain on notes) in the U.S. Congress directly cited health algorithm bias as a motivating concern.</a:t>
            </a:r>
          </a:p>
        </p:txBody>
      </p:sp>
    </p:spTree>
    <p:extLst>
      <p:ext uri="{BB962C8B-B14F-4D97-AF65-F5344CB8AC3E}">
        <p14:creationId xmlns:p14="http://schemas.microsoft.com/office/powerpoint/2010/main" val="9035822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6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2" grpId="0" build="p" animBg="1"/>
      <p:bldP spid="2" grpId="1" build="p" animBg="1"/>
      <p:bldP spid="4" grpId="0" build="p" animBg="1"/>
      <p:bldP spid="4" grpId="1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BCB088-A146-9627-A431-961692A08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70770BAC-4F56-A8B8-408F-1717FDB4C0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213"/>
          <a:stretch>
            <a:fillRect/>
          </a:stretch>
        </p:blipFill>
        <p:spPr>
          <a:xfrm>
            <a:off x="21" y="0"/>
            <a:ext cx="12191979" cy="685799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51F97E4-07FC-2C1D-EFF0-2FD6CE732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351323"/>
            <a:ext cx="10890929" cy="1097280"/>
          </a:xfrm>
          <a:solidFill>
            <a:schemeClr val="tx1"/>
          </a:solidFill>
          <a:effectLst>
            <a:softEdge rad="114300"/>
          </a:effectLst>
        </p:spPr>
        <p:txBody>
          <a:bodyPr anchor="ctr">
            <a:normAutofit/>
          </a:bodyPr>
          <a:lstStyle/>
          <a:p>
            <a:pPr algn="ctr"/>
            <a:r>
              <a:rPr lang="en-US" sz="3200" dirty="0">
                <a:solidFill>
                  <a:schemeClr val="accent4">
                    <a:lumMod val="75000"/>
                  </a:schemeClr>
                </a:solidFill>
              </a:rPr>
              <a:t>The Fix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B55E1D3-0497-FB5E-5AAE-344B156C70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28298" y="2257120"/>
            <a:ext cx="5067702" cy="3628732"/>
          </a:xfrm>
          <a:solidFill>
            <a:schemeClr val="tx1"/>
          </a:solidFill>
          <a:effectLst>
            <a:softEdge rad="114300"/>
          </a:effectLst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accent4">
                    <a:lumMod val="75000"/>
                  </a:schemeClr>
                </a:solidFill>
              </a:rPr>
              <a:t>Fixing the Algorithm </a:t>
            </a:r>
          </a:p>
          <a:p>
            <a:pPr marL="0" indent="0">
              <a:buNone/>
            </a:pPr>
            <a:r>
              <a:rPr lang="en-US" b="1">
                <a:solidFill>
                  <a:schemeClr val="accent1">
                    <a:lumMod val="75000"/>
                  </a:schemeClr>
                </a:solidFill>
              </a:rPr>
              <a:t>1. Change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the </a:t>
            </a:r>
            <a:r>
              <a:rPr lang="en-US" b="1">
                <a:solidFill>
                  <a:schemeClr val="accent1">
                    <a:lumMod val="75000"/>
                  </a:schemeClr>
                </a:solidFill>
              </a:rPr>
              <a:t>outcome variable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2. Remove the cost-based proxy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3.  Continuous Auditing and Retraining: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4. Incorporate Socio-economic data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5. Human-in-the-Loop Oversight 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870519-3D06-6002-66B8-FC130C7BE3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257120"/>
            <a:ext cx="5443098" cy="3628732"/>
          </a:xfrm>
          <a:prstGeom prst="rect">
            <a:avLst/>
          </a:prstGeom>
          <a:effectLst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27994257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0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1" animBg="1"/>
      <p:bldP spid="5" grpId="2" animBg="1"/>
      <p:bldP spid="2" grpId="0" build="p" animBg="1"/>
      <p:bldP spid="2" grpId="1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CB2081-4032-7CE8-1AD0-8DB94542D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B6BF48A8-5811-45A5-D0F8-B5E7BDD3DF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213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472381FF-8372-EB36-C900-91B51DF4D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8" y="322447"/>
            <a:ext cx="10890929" cy="1097280"/>
          </a:xfrm>
          <a:solidFill>
            <a:schemeClr val="tx1"/>
          </a:solidFill>
          <a:effectLst>
            <a:softEdge rad="114300"/>
          </a:effectLst>
        </p:spPr>
        <p:txBody>
          <a:bodyPr anchor="ctr">
            <a:normAutofit/>
          </a:bodyPr>
          <a:lstStyle/>
          <a:p>
            <a:pPr algn="ctr"/>
            <a:r>
              <a:rPr lang="en-US" sz="3200" dirty="0">
                <a:solidFill>
                  <a:schemeClr val="accent4">
                    <a:lumMod val="75000"/>
                  </a:schemeClr>
                </a:solidFill>
              </a:rPr>
              <a:t>Takeaways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AF37A47-97E1-780F-87E9-DE0A55ACD1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77" y="1742164"/>
            <a:ext cx="10890929" cy="3767328"/>
          </a:xfrm>
          <a:solidFill>
            <a:schemeClr val="tx1"/>
          </a:solidFill>
          <a:effectLst>
            <a:softEdge rad="114300"/>
          </a:effectLst>
        </p:spPr>
        <p:txBody>
          <a:bodyPr>
            <a:normAutofit fontScale="77500" lnSpcReduction="20000"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This case remains one of the most important AI ethics cases. </a:t>
            </a:r>
          </a:p>
          <a:p>
            <a:pPr>
              <a:buFontTx/>
              <a:buChar char="-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This is because the bias was not a result of malicious intent. </a:t>
            </a:r>
          </a:p>
          <a:p>
            <a:pPr lvl="1">
              <a:buFontTx/>
              <a:buChar char="-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Nobody set out to disadvantage black patients. The harm emerged from a series of seemingly reasonable design choices, which was to:</a:t>
            </a:r>
          </a:p>
          <a:p>
            <a:pPr marL="265176" lvl="1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	1. use available data</a:t>
            </a:r>
          </a:p>
          <a:p>
            <a:pPr marL="265176" lvl="1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	2. optimize for a measurable proxy</a:t>
            </a:r>
          </a:p>
          <a:p>
            <a:pPr marL="265176" lvl="1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	3. deploy at scale</a:t>
            </a:r>
          </a:p>
          <a:p>
            <a:pPr lvl="1">
              <a:buFontTx/>
              <a:buChar char="-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Those decisions were made without concern of what that data represented or who would be affected from the cost of errors. </a:t>
            </a:r>
          </a:p>
          <a:p>
            <a:pPr lvl="1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The case shows and warns how the most dangerous AI failures are not often dramatic. </a:t>
            </a:r>
          </a:p>
          <a:p>
            <a:pPr lvl="1">
              <a:buFontTx/>
              <a:buChar char="-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They are: </a:t>
            </a:r>
          </a:p>
          <a:p>
            <a:pPr marL="845820" lvl="2" indent="-342900">
              <a:buAutoNum type="arabicPeriod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Quiet </a:t>
            </a:r>
          </a:p>
          <a:p>
            <a:pPr marL="845820" lvl="2" indent="-342900">
              <a:buAutoNum type="arabicPeriod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Statistically embedded </a:t>
            </a:r>
          </a:p>
          <a:p>
            <a:pPr marL="845820" lvl="2" indent="-342900">
              <a:buAutoNum type="arabicPeriod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Affect millions of people before anyone even notices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C9B38-860A-6850-2959-0155E07397D6}"/>
              </a:ext>
            </a:extLst>
          </p:cNvPr>
          <p:cNvSpPr txBox="1"/>
          <p:nvPr/>
        </p:nvSpPr>
        <p:spPr>
          <a:xfrm>
            <a:off x="731520" y="5509492"/>
            <a:ext cx="10616665" cy="923330"/>
          </a:xfrm>
          <a:prstGeom prst="rect">
            <a:avLst/>
          </a:prstGeom>
          <a:solidFill>
            <a:schemeClr val="tx1"/>
          </a:solidFill>
          <a:effectLst>
            <a:softEdge rad="76200"/>
          </a:effectLst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Key Lesson: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1. AI systems are not automatically fair. 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2. When models are trained on historical data, they can replicate historical inequalities. </a:t>
            </a:r>
          </a:p>
        </p:txBody>
      </p:sp>
    </p:spTree>
    <p:extLst>
      <p:ext uri="{BB962C8B-B14F-4D97-AF65-F5344CB8AC3E}">
        <p14:creationId xmlns:p14="http://schemas.microsoft.com/office/powerpoint/2010/main" val="12088895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0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3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5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6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6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7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8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8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9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9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1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1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26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52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3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4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9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60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1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26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72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3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4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5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9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80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81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26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90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1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2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3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7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8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99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0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26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08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9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0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1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5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6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7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1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2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26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26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7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8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9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3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4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35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3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4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3" presetID="26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44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5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6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7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1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52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53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5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5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1" presetID="26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62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3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4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5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9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0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1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7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7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9" presetID="26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80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1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2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3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7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88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89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9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9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7" presetID="26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98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9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0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1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5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06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07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0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1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26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16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7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8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9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3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24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25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2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2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43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3" presetID="26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34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5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6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7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1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42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43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4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4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4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1" presetID="26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52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3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4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5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9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60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1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6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6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6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9" presetID="26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70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1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2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3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7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8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79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8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8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7" presetID="26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88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9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0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1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5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6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97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9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0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50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5" fill="hold">
                      <p:stCondLst>
                        <p:cond delay="indefinite"/>
                      </p:stCondLst>
                      <p:childTnLst>
                        <p:par>
                          <p:cTn id="506" fill="hold">
                            <p:stCondLst>
                              <p:cond delay="0"/>
                            </p:stCondLst>
                            <p:childTnLst>
                              <p:par>
                                <p:cTn id="507" presetID="26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08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9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0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1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5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16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17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1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1" animBg="1"/>
      <p:bldP spid="5" grpId="2" animBg="1"/>
      <p:bldP spid="2" grpId="0" build="allAtOnce" animBg="1"/>
      <p:bldP spid="2" grpId="1" build="allAtOnce" animBg="1"/>
      <p:bldP spid="3" grpId="0" animBg="1"/>
      <p:bldP spid="3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80976C-C3C1-87A7-C665-AA5628A25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006F68BE-9E4D-0387-13FD-81160B357B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213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740855DC-6A73-9912-148D-542E26DE67A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6">
              <a:lumMod val="75000"/>
              <a:alpha val="76000"/>
            </a:schemeClr>
          </a:solidFill>
          <a:effectLst>
            <a:softEdge rad="101600"/>
          </a:effectLst>
        </p:spPr>
        <p:txBody>
          <a:bodyPr/>
          <a:lstStyle/>
          <a:p>
            <a:r>
              <a:rPr lang="en-US" dirty="0"/>
              <a:t>Resources Used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6C3A7D1F-AE23-68CF-116E-3679860984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solidFill>
            <a:schemeClr val="accent4">
              <a:lumMod val="75000"/>
            </a:schemeClr>
          </a:solidFill>
          <a:effectLst>
            <a:softEdge rad="76200"/>
          </a:effectLst>
        </p:spPr>
        <p:txBody>
          <a:bodyPr>
            <a:normAutofit fontScale="92500" lnSpcReduction="20000"/>
          </a:bodyPr>
          <a:lstStyle/>
          <a:p>
            <a:r>
              <a:rPr lang="en-US" dirty="0"/>
              <a:t>Obermeyer, Z., Powers, B., Vogeli, C., &amp; Mullainathan, S. (2019).</a:t>
            </a:r>
          </a:p>
          <a:p>
            <a:pPr marL="0" indent="0">
              <a:buNone/>
            </a:pPr>
            <a:r>
              <a:rPr lang="en-US" i="1" dirty="0"/>
              <a:t>Dissecting racial bias in an algorithm used to manage the health of populations.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Science.</a:t>
            </a:r>
            <a:endParaRPr lang="en-US" dirty="0"/>
          </a:p>
          <a:p>
            <a:endParaRPr lang="en-US" dirty="0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6706A1A2-34A3-02C5-3698-849CE4985B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7" y="2633472"/>
            <a:ext cx="5549021" cy="3566160"/>
          </a:xfrm>
          <a:solidFill>
            <a:schemeClr val="accent4">
              <a:lumMod val="75000"/>
            </a:schemeClr>
          </a:solidFill>
          <a:effectLst>
            <a:softEdge rad="88900"/>
          </a:effectLst>
        </p:spPr>
        <p:txBody>
          <a:bodyPr>
            <a:normAutofit fontScale="92500" lnSpcReduction="20000"/>
          </a:bodyPr>
          <a:lstStyle/>
          <a:p>
            <a:r>
              <a:rPr lang="en-US" dirty="0"/>
              <a:t>Paul, K. (2019).</a:t>
            </a:r>
          </a:p>
          <a:p>
            <a:pPr marL="0" indent="0">
              <a:buNone/>
            </a:pPr>
            <a:r>
              <a:rPr lang="en-US" dirty="0"/>
              <a:t>Healthcare algorithm used across America has dramatic racial biases.</a:t>
            </a:r>
          </a:p>
          <a:p>
            <a:pPr marL="0" indent="0">
              <a:buNone/>
            </a:pPr>
            <a:r>
              <a:rPr lang="en-US" b="1" dirty="0"/>
              <a:t>The Guardian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Kennedy, S. (2023).</a:t>
            </a:r>
          </a:p>
          <a:p>
            <a:pPr marL="0" indent="0">
              <a:buNone/>
            </a:pPr>
            <a:r>
              <a:rPr lang="en-US" dirty="0"/>
              <a:t>Explaining the basics of patient risk scores in healthcare.</a:t>
            </a:r>
          </a:p>
          <a:p>
            <a:pPr marL="0" indent="0">
              <a:buNone/>
            </a:pPr>
            <a:r>
              <a:rPr lang="en-US" b="1" dirty="0"/>
              <a:t>TechTarget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2017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8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5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5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8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5000" fill="hold"/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5000" fill="hold"/>
                                        <p:tgtEl>
                                          <p:spTgt spid="18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5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5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5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50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50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50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8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5000" fill="hold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5000" fill="hold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5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5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50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50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50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50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5000" fill="hold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5000" fill="hold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5000" fill="hold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5000" fill="hold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5000" fill="hold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5000" fill="hold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8" grpId="0" build="allAtOnce" animBg="1"/>
      <p:bldP spid="19" grpId="0" build="allAtOnce" animBg="1"/>
    </p:bldLst>
  </p:timing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4467</TotalTime>
  <Words>1412</Words>
  <Application>Microsoft Macintosh PowerPoint</Application>
  <PresentationFormat>Widescreen</PresentationFormat>
  <Paragraphs>151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Grandview Display</vt:lpstr>
      <vt:lpstr>Wingdings</vt:lpstr>
      <vt:lpstr>DashVTI</vt:lpstr>
      <vt:lpstr>How Healthcare Algorithms Can Reinforce Inequality  How Healthcare Can Reinforce Inequality </vt:lpstr>
      <vt:lpstr>Who is Optum?</vt:lpstr>
      <vt:lpstr>PowerPoint Presentation</vt:lpstr>
      <vt:lpstr>PowerPoint Presentation</vt:lpstr>
      <vt:lpstr>PowerPoint Presentation</vt:lpstr>
      <vt:lpstr>The Discovery</vt:lpstr>
      <vt:lpstr>Where the Bias Came From</vt:lpstr>
      <vt:lpstr>The Data</vt:lpstr>
      <vt:lpstr>The Fix</vt:lpstr>
      <vt:lpstr>Takeaways</vt:lpstr>
      <vt:lpstr>Resources Used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tiara.scott2-W213119812</dc:creator>
  <cp:lastModifiedBy>tiara.scott2-W213119812</cp:lastModifiedBy>
  <cp:revision>6</cp:revision>
  <dcterms:created xsi:type="dcterms:W3CDTF">2026-03-02T21:02:15Z</dcterms:created>
  <dcterms:modified xsi:type="dcterms:W3CDTF">2026-03-05T23:43:00Z</dcterms:modified>
</cp:coreProperties>
</file>